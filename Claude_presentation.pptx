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тарт" id="{23f3852e-e63f-fc03-3398-7b05b06c53be}">
          <p14:sldIdLst>
            <p14:sldId id="256"/>
          </p14:sldIdLst>
        </p14:section>
        <p14:section name="О Claude" id="{7b8723a7-9f63-acf7-79bf-71d41de66d92}">
          <p14:sldIdLst>
            <p14:sldId id="257"/>
            <p14:sldId id="258"/>
            <p14:sldId id="259"/>
          </p14:sldIdLst>
        </p14:section>
        <p14:section name="Итоги" id="{d4f6a807-c1af-caf1-6b81-bfa6b375661f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Сегодня расскажу про Claude — нейросеть, которую разрабатывает компания Anthropic. План короткий: кто и когда её создал, как она обучается, какие у неё есть модели и где ей пользоваться, и в конце — что она умеет и в чём её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— это семейство больших языковых моделей. Их делает компания Anthropic, она основана в 2021 году выходцами из OpenAI, среди основателей — брат и сестра Дарио и Даниэла Амодеи. Первый Claude вышел в марте 2023 года, в июле того же года появился Claude 2, в марте 2024 — Claude 3, который научился анализировать изображения. Дальше вышли поколения 4 и 5, где главный акцент — программирование и работа в режиме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Обучение идёт в три этапа. Сначала предобучение: модель читает огромное количество текстов и учится предсказывать следующее слово — так она осваивает язык и накапливает знания. Затем обратная связь от людей, RLHF: люди оценивают ответы, и модель учится отвечать полезнее. Третий этап — Constitutional AI, фирменный подход Anthropic: модель сама проверяет свои ответы по набору принципов. Важный вывод: Claude генерирует ответ, а не достаёт его из базы данных, поэтому ошибки возможны.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Модели Claude делятся на три размера. Haiku — самая быстрая и недорогая, Sonnet — золотая середина по скорости и качеству, Opus — для самых сложных задач. Пользоваться можно тремя способами: обычный чат на сайте claude.ai и в приложениях, API — им пользуются разработчики, чтобы встроить Claude в свои программы, и Claude Code — помощник для программистов. Линейка моделей регулярно обновляется, поэтому актуальный список смотрите на сайте Anthropic.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Claude хорошо справляется с текстами, кодом и анализом документов и изображений. Но у него есть пределы: он может ошибаться и при этом звучать уверенно, без поиска в интернете не знает событий после даты обучения, а качество ответа зависит от формулировки запроса. Поэтому главный вывод: это помощник, а не источник истины — важное нужно проверять.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2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Claude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Нейросеть от Anthropic: что это, как обучается и где применяется</a:t>
            </a:r>
            <a:endParaRPr lang="en-US" sz="2000" dirty="0"/>
          </a:p>
        </p:txBody>
      </p:sp>
      <p:sp>
        <p:nvSpPr>
          <p:cNvPr id="4" name="Круг большой"/>
          <p:cNvSpPr/>
          <p:nvPr/>
        </p:nvSpPr>
        <p:spPr>
          <a:xfrm>
            <a:off x="5577840" y="822960"/>
            <a:ext cx="3200400" cy="3200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Круг средний"/>
          <p:cNvSpPr/>
          <p:nvPr/>
        </p:nvSpPr>
        <p:spPr>
          <a:xfrm>
            <a:off x="5029200" y="329184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Круг контур"/>
          <p:cNvSpPr/>
          <p:nvPr/>
        </p:nvSpPr>
        <p:spPr>
          <a:xfrm>
            <a:off x="8138160" y="3840480"/>
            <a:ext cx="548640" cy="54864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Кто и когда создал Claude</a:t>
            </a:r>
            <a:endParaRPr lang="en-US" sz="3600" dirty="0"/>
          </a:p>
        </p:txBody>
      </p:sp>
      <p:sp>
        <p:nvSpPr>
          <p:cNvPr id="3" name="Вступление"/>
          <p:cNvSpPr txBox="1"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Claude — семейство больших языковых моделей (LLM) компании Anthropic. Компанию в 2021 году основали бывшие сотрудники OpenAI, среди них Дарио и Даниэла Амодеи.</a:t>
            </a:r>
            <a:endParaRPr lang="en-US" sz="1600" dirty="0"/>
          </a:p>
        </p:txBody>
      </p:sp>
      <p:sp>
        <p:nvSpPr>
          <p:cNvPr id="4" name="Линия времени"/>
          <p:cNvSpPr/>
          <p:nvPr/>
        </p:nvSpPr>
        <p:spPr>
          <a:xfrm>
            <a:off x="685800" y="2926080"/>
            <a:ext cx="79095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Точка 1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Год 1"/>
          <p:cNvSpPr txBox="1"/>
          <p:nvPr/>
        </p:nvSpPr>
        <p:spPr>
          <a:xfrm>
            <a:off x="548640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2021</a:t>
            </a:r>
            <a:endParaRPr lang="en-US" sz="1800" dirty="0"/>
          </a:p>
        </p:txBody>
      </p:sp>
      <p:sp>
        <p:nvSpPr>
          <p:cNvPr id="7" name="Событие 1"/>
          <p:cNvSpPr txBox="1"/>
          <p:nvPr/>
        </p:nvSpPr>
        <p:spPr>
          <a:xfrm>
            <a:off x="548640" y="36118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Основана Anthropic</a:t>
            </a:r>
            <a:endParaRPr lang="en-US" sz="1400" dirty="0"/>
          </a:p>
        </p:txBody>
      </p:sp>
      <p:sp>
        <p:nvSpPr>
          <p:cNvPr id="8" name="Точка 2"/>
          <p:cNvSpPr/>
          <p:nvPr/>
        </p:nvSpPr>
        <p:spPr>
          <a:xfrm>
            <a:off x="2157984" y="2788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Год 2"/>
          <p:cNvSpPr txBox="1"/>
          <p:nvPr/>
        </p:nvSpPr>
        <p:spPr>
          <a:xfrm>
            <a:off x="2157984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Март 2023</a:t>
            </a:r>
            <a:endParaRPr lang="en-US" sz="1800" dirty="0"/>
          </a:p>
        </p:txBody>
      </p:sp>
      <p:sp>
        <p:nvSpPr>
          <p:cNvPr id="10" name="Событие 2"/>
          <p:cNvSpPr txBox="1"/>
          <p:nvPr/>
        </p:nvSpPr>
        <p:spPr>
          <a:xfrm>
            <a:off x="2157984" y="36118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Первый Claude</a:t>
            </a:r>
            <a:endParaRPr lang="en-US" sz="1400" dirty="0"/>
          </a:p>
        </p:txBody>
      </p:sp>
      <p:sp>
        <p:nvSpPr>
          <p:cNvPr id="11" name="Точка 3"/>
          <p:cNvSpPr/>
          <p:nvPr/>
        </p:nvSpPr>
        <p:spPr>
          <a:xfrm>
            <a:off x="3767328" y="2788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Год 3"/>
          <p:cNvSpPr txBox="1"/>
          <p:nvPr/>
        </p:nvSpPr>
        <p:spPr>
          <a:xfrm>
            <a:off x="3767328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Июль 2023</a:t>
            </a:r>
            <a:endParaRPr lang="en-US" sz="1800" dirty="0"/>
          </a:p>
        </p:txBody>
      </p:sp>
      <p:sp>
        <p:nvSpPr>
          <p:cNvPr id="13" name="Событие 3"/>
          <p:cNvSpPr txBox="1"/>
          <p:nvPr/>
        </p:nvSpPr>
        <p:spPr>
          <a:xfrm>
            <a:off x="3767328" y="36118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2: публичный доступ</a:t>
            </a:r>
            <a:endParaRPr lang="en-US" sz="1400" dirty="0"/>
          </a:p>
        </p:txBody>
      </p:sp>
      <p:sp>
        <p:nvSpPr>
          <p:cNvPr id="14" name="Точка 4"/>
          <p:cNvSpPr/>
          <p:nvPr/>
        </p:nvSpPr>
        <p:spPr>
          <a:xfrm>
            <a:off x="5376672" y="2788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Год 4"/>
          <p:cNvSpPr txBox="1"/>
          <p:nvPr/>
        </p:nvSpPr>
        <p:spPr>
          <a:xfrm>
            <a:off x="5376672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Март 2024</a:t>
            </a:r>
            <a:endParaRPr lang="en-US" sz="1800" dirty="0"/>
          </a:p>
        </p:txBody>
      </p:sp>
      <p:sp>
        <p:nvSpPr>
          <p:cNvPr id="16" name="Событие 4"/>
          <p:cNvSpPr txBox="1"/>
          <p:nvPr/>
        </p:nvSpPr>
        <p:spPr>
          <a:xfrm>
            <a:off x="5376672" y="36118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3: понимает изображения</a:t>
            </a:r>
            <a:endParaRPr lang="en-US" sz="1400" dirty="0"/>
          </a:p>
        </p:txBody>
      </p:sp>
      <p:sp>
        <p:nvSpPr>
          <p:cNvPr id="17" name="Точка 5"/>
          <p:cNvSpPr/>
          <p:nvPr/>
        </p:nvSpPr>
        <p:spPr>
          <a:xfrm>
            <a:off x="6986016" y="27889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Год 5"/>
          <p:cNvSpPr txBox="1"/>
          <p:nvPr/>
        </p:nvSpPr>
        <p:spPr>
          <a:xfrm>
            <a:off x="6986016" y="3200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2025–2026</a:t>
            </a:r>
            <a:endParaRPr lang="en-US" sz="1800" dirty="0"/>
          </a:p>
        </p:txBody>
      </p:sp>
      <p:sp>
        <p:nvSpPr>
          <p:cNvPr id="19" name="Событие 5"/>
          <p:cNvSpPr txBox="1"/>
          <p:nvPr/>
        </p:nvSpPr>
        <p:spPr>
          <a:xfrm>
            <a:off x="6986016" y="36118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4 и 5: код и агенты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Claude обучают</a:t>
            </a:r>
            <a:endParaRPr lang="en-US" sz="3600" dirty="0"/>
          </a:p>
        </p:txBody>
      </p:sp>
      <p:sp>
        <p:nvSpPr>
          <p:cNvPr id="3" name="Карточка 1"/>
          <p:cNvSpPr/>
          <p:nvPr/>
        </p:nvSpPr>
        <p:spPr>
          <a:xfrm>
            <a:off x="54864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Номер 1 круг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Номер 1"/>
          <p:cNvSpPr txBox="1"/>
          <p:nvPr/>
        </p:nvSpPr>
        <p:spPr>
          <a:xfrm>
            <a:off x="7772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Заголовок 1"/>
          <p:cNvSpPr txBox="1"/>
          <p:nvPr/>
        </p:nvSpPr>
        <p:spPr>
          <a:xfrm>
            <a:off x="7772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Предобучение</a:t>
            </a:r>
            <a:endParaRPr lang="en-US" sz="2000" dirty="0"/>
          </a:p>
        </p:txBody>
      </p:sp>
      <p:sp>
        <p:nvSpPr>
          <p:cNvPr id="7" name="Текст 1"/>
          <p:cNvSpPr txBox="1"/>
          <p:nvPr/>
        </p:nvSpPr>
        <p:spPr>
          <a:xfrm>
            <a:off x="777240" y="2468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Модель читает огромные массивы текста и учится предсказывать следующее слово.</a:t>
            </a:r>
            <a:endParaRPr lang="en-US" sz="1400" dirty="0"/>
          </a:p>
        </p:txBody>
      </p:sp>
      <p:sp>
        <p:nvSpPr>
          <p:cNvPr id="8" name="Стрелка 1"/>
          <p:cNvSpPr/>
          <p:nvPr/>
        </p:nvSpPr>
        <p:spPr>
          <a:xfrm>
            <a:off x="3090672" y="233172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Карточка 2"/>
          <p:cNvSpPr/>
          <p:nvPr/>
        </p:nvSpPr>
        <p:spPr>
          <a:xfrm>
            <a:off x="333756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Номер 2 круг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Номер 2"/>
          <p:cNvSpPr txBox="1"/>
          <p:nvPr/>
        </p:nvSpPr>
        <p:spPr>
          <a:xfrm>
            <a:off x="35661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Заголовок 2"/>
          <p:cNvSpPr txBox="1"/>
          <p:nvPr/>
        </p:nvSpPr>
        <p:spPr>
          <a:xfrm>
            <a:off x="35661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Обратная связь</a:t>
            </a:r>
            <a:endParaRPr lang="en-US" sz="2000" dirty="0"/>
          </a:p>
        </p:txBody>
      </p:sp>
      <p:sp>
        <p:nvSpPr>
          <p:cNvPr id="13" name="Текст 2"/>
          <p:cNvSpPr txBox="1"/>
          <p:nvPr/>
        </p:nvSpPr>
        <p:spPr>
          <a:xfrm>
            <a:off x="3566160" y="2468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Люди оценивают ответы (RLHF) — модель учится выдавать полезные и понятные.</a:t>
            </a:r>
            <a:endParaRPr lang="en-US" sz="1400" dirty="0"/>
          </a:p>
        </p:txBody>
      </p:sp>
      <p:sp>
        <p:nvSpPr>
          <p:cNvPr id="14" name="Стрелка 2"/>
          <p:cNvSpPr/>
          <p:nvPr/>
        </p:nvSpPr>
        <p:spPr>
          <a:xfrm>
            <a:off x="5879592" y="2331720"/>
            <a:ext cx="1828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Карточка 3"/>
          <p:cNvSpPr/>
          <p:nvPr/>
        </p:nvSpPr>
        <p:spPr>
          <a:xfrm>
            <a:off x="6126480" y="1188720"/>
            <a:ext cx="2468880" cy="25603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Номер 3 круг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Номер 3"/>
          <p:cNvSpPr txBox="1"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Заголовок 3"/>
          <p:cNvSpPr txBox="1"/>
          <p:nvPr/>
        </p:nvSpPr>
        <p:spPr>
          <a:xfrm>
            <a:off x="63550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Конституция</a:t>
            </a:r>
            <a:endParaRPr lang="en-US" sz="2000" dirty="0"/>
          </a:p>
        </p:txBody>
      </p:sp>
      <p:sp>
        <p:nvSpPr>
          <p:cNvPr id="19" name="Текст 3"/>
          <p:cNvSpPr txBox="1"/>
          <p:nvPr/>
        </p:nvSpPr>
        <p:spPr>
          <a:xfrm>
            <a:off x="6355080" y="2468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Constitutional AI: модель сама проверяет свои ответы по набору принципов — полезность, честность, безопасность.</a:t>
            </a:r>
            <a:endParaRPr lang="en-US" sz="1400" dirty="0"/>
          </a:p>
        </p:txBody>
      </p:sp>
      <p:sp>
        <p:nvSpPr>
          <p:cNvPr id="20" name="Вывод фон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tx1"/>
          </a:solidFill>
          <a:ln/>
        </p:spPr>
      </p:sp>
      <p:sp>
        <p:nvSpPr>
          <p:cNvPr id="21" name="Вывод текст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Claude не ищет ответ в базе, а генерирует его по выученным закономерностям — поэтому может ошибаться.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Модели и где их найти</a:t>
            </a:r>
            <a:endParaRPr lang="en-US" sz="3600" dirty="0"/>
          </a:p>
        </p:txBody>
      </p:sp>
      <p:sp>
        <p:nvSpPr>
          <p:cNvPr id="3" name="Метка моделей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ТРИ РАЗМЕРА МОДЕЛЕЙ</a:t>
            </a:r>
            <a:endParaRPr lang="en-US" sz="1400" dirty="0"/>
          </a:p>
        </p:txBody>
      </p:sp>
      <p:sp>
        <p:nvSpPr>
          <p:cNvPr id="4" name="Модель Haiku фон"/>
          <p:cNvSpPr/>
          <p:nvPr/>
        </p:nvSpPr>
        <p:spPr>
          <a:xfrm>
            <a:off x="548640" y="155448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Модель Haiku"/>
          <p:cNvSpPr txBox="1"/>
          <p:nvPr/>
        </p:nvSpPr>
        <p:spPr>
          <a:xfrm>
            <a:off x="77724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Haiku</a:t>
            </a:r>
            <a:endParaRPr lang="en-US" sz="2000" dirty="0"/>
          </a:p>
        </p:txBody>
      </p:sp>
      <p:sp>
        <p:nvSpPr>
          <p:cNvPr id="6" name="Описание Haiku"/>
          <p:cNvSpPr txBox="1"/>
          <p:nvPr/>
        </p:nvSpPr>
        <p:spPr>
          <a:xfrm>
            <a:off x="77724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Быстрая и недорогая — для простых задач</a:t>
            </a:r>
            <a:endParaRPr lang="en-US" sz="1400" dirty="0"/>
          </a:p>
        </p:txBody>
      </p:sp>
      <p:sp>
        <p:nvSpPr>
          <p:cNvPr id="7" name="Модель Sonnet фон"/>
          <p:cNvSpPr/>
          <p:nvPr/>
        </p:nvSpPr>
        <p:spPr>
          <a:xfrm>
            <a:off x="3337560" y="155448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Модель Sonnet"/>
          <p:cNvSpPr txBox="1"/>
          <p:nvPr/>
        </p:nvSpPr>
        <p:spPr>
          <a:xfrm>
            <a:off x="356616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Sonnet</a:t>
            </a:r>
            <a:endParaRPr lang="en-US" sz="2000" dirty="0"/>
          </a:p>
        </p:txBody>
      </p:sp>
      <p:sp>
        <p:nvSpPr>
          <p:cNvPr id="9" name="Описание Sonnet"/>
          <p:cNvSpPr txBox="1"/>
          <p:nvPr/>
        </p:nvSpPr>
        <p:spPr>
          <a:xfrm>
            <a:off x="356616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Баланс скорости и качества</a:t>
            </a:r>
            <a:endParaRPr lang="en-US" sz="1400" dirty="0"/>
          </a:p>
        </p:txBody>
      </p:sp>
      <p:sp>
        <p:nvSpPr>
          <p:cNvPr id="10" name="Модель Opus фон"/>
          <p:cNvSpPr/>
          <p:nvPr/>
        </p:nvSpPr>
        <p:spPr>
          <a:xfrm>
            <a:off x="6126480" y="155448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Модель Opus"/>
          <p:cNvSpPr txBox="1"/>
          <p:nvPr/>
        </p:nvSpPr>
        <p:spPr>
          <a:xfrm>
            <a:off x="635508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Opus</a:t>
            </a:r>
            <a:endParaRPr lang="en-US" sz="2000" dirty="0"/>
          </a:p>
        </p:txBody>
      </p:sp>
      <p:sp>
        <p:nvSpPr>
          <p:cNvPr id="12" name="Описание Opus"/>
          <p:cNvSpPr txBox="1"/>
          <p:nvPr/>
        </p:nvSpPr>
        <p:spPr>
          <a:xfrm>
            <a:off x="635508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Мощная — для самых сложных задач</a:t>
            </a:r>
            <a:endParaRPr lang="en-US" sz="1400" dirty="0"/>
          </a:p>
        </p:txBody>
      </p:sp>
      <p:sp>
        <p:nvSpPr>
          <p:cNvPr id="13" name="Метка продуктов"/>
          <p:cNvSpPr txBox="1"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ГДЕ ПОЛЬЗОВАТЬСЯ</a:t>
            </a:r>
            <a:endParaRPr lang="en-US" sz="1400" dirty="0"/>
          </a:p>
        </p:txBody>
      </p:sp>
      <p:sp>
        <p:nvSpPr>
          <p:cNvPr id="14" name="Иконка Чат круг"/>
          <p:cNvSpPr/>
          <p:nvPr/>
        </p:nvSpPr>
        <p:spPr>
          <a:xfrm>
            <a:off x="54864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Иконка Чат" descr="Ча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20440"/>
            <a:ext cx="274320" cy="274320"/>
          </a:xfrm>
          <a:prstGeom prst="rect">
            <a:avLst/>
          </a:prstGeom>
        </p:spPr>
      </p:pic>
      <p:sp>
        <p:nvSpPr>
          <p:cNvPr id="16" name="Продукт Чат"/>
          <p:cNvSpPr txBox="1"/>
          <p:nvPr/>
        </p:nvSpPr>
        <p:spPr>
          <a:xfrm>
            <a:off x="123444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Чат</a:t>
            </a:r>
            <a:endParaRPr lang="en-US" sz="1600" dirty="0"/>
          </a:p>
        </p:txBody>
      </p:sp>
      <p:sp>
        <p:nvSpPr>
          <p:cNvPr id="17" name="Продукт Чат описание"/>
          <p:cNvSpPr txBox="1"/>
          <p:nvPr/>
        </p:nvSpPr>
        <p:spPr>
          <a:xfrm>
            <a:off x="123444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Сайт claude.ai и мобильные приложения</a:t>
            </a:r>
            <a:endParaRPr lang="en-US" sz="1400" dirty="0"/>
          </a:p>
        </p:txBody>
      </p:sp>
      <p:sp>
        <p:nvSpPr>
          <p:cNvPr id="18" name="Иконка API круг"/>
          <p:cNvSpPr/>
          <p:nvPr/>
        </p:nvSpPr>
        <p:spPr>
          <a:xfrm>
            <a:off x="333756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Иконка API" descr="A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520440"/>
            <a:ext cx="274320" cy="274320"/>
          </a:xfrm>
          <a:prstGeom prst="rect">
            <a:avLst/>
          </a:prstGeom>
        </p:spPr>
      </p:pic>
      <p:sp>
        <p:nvSpPr>
          <p:cNvPr id="20" name="Продукт API"/>
          <p:cNvSpPr txBox="1"/>
          <p:nvPr/>
        </p:nvSpPr>
        <p:spPr>
          <a:xfrm>
            <a:off x="402336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</a:t>
            </a:r>
            <a:endParaRPr lang="en-US" sz="1600" dirty="0"/>
          </a:p>
        </p:txBody>
      </p:sp>
      <p:sp>
        <p:nvSpPr>
          <p:cNvPr id="21" name="Продукт API описание"/>
          <p:cNvSpPr txBox="1"/>
          <p:nvPr/>
        </p:nvSpPr>
        <p:spPr>
          <a:xfrm>
            <a:off x="402336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Встраивание Claude в свои сервисы</a:t>
            </a:r>
            <a:endParaRPr lang="en-US" sz="1400" dirty="0"/>
          </a:p>
        </p:txBody>
      </p:sp>
      <p:sp>
        <p:nvSpPr>
          <p:cNvPr id="22" name="Иконка Claude Code круг"/>
          <p:cNvSpPr/>
          <p:nvPr/>
        </p:nvSpPr>
        <p:spPr>
          <a:xfrm>
            <a:off x="6126480" y="3383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Иконка Claude Code" descr="Claude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20440"/>
            <a:ext cx="274320" cy="274320"/>
          </a:xfrm>
          <a:prstGeom prst="rect">
            <a:avLst/>
          </a:prstGeom>
        </p:spPr>
      </p:pic>
      <p:sp>
        <p:nvSpPr>
          <p:cNvPr id="24" name="Продукт Claude Code"/>
          <p:cNvSpPr txBox="1"/>
          <p:nvPr/>
        </p:nvSpPr>
        <p:spPr>
          <a:xfrm>
            <a:off x="681228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Claude Code</a:t>
            </a:r>
            <a:endParaRPr lang="en-US" sz="1600" dirty="0"/>
          </a:p>
        </p:txBody>
      </p:sp>
      <p:sp>
        <p:nvSpPr>
          <p:cNvPr id="25" name="Продукт Claude Code описание"/>
          <p:cNvSpPr txBox="1"/>
          <p:nvPr/>
        </p:nvSpPr>
        <p:spPr>
          <a:xfrm>
            <a:off x="681228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Помощник программиста: пишет и правит код</a:t>
            </a:r>
            <a:endParaRPr lang="en-US" sz="1400" dirty="0"/>
          </a:p>
        </p:txBody>
      </p:sp>
      <p:sp>
        <p:nvSpPr>
          <p:cNvPr id="26" name="Сноска"/>
          <p:cNvSpPr txBox="1"/>
          <p:nvPr/>
        </p:nvSpPr>
        <p:spPr>
          <a:xfrm>
            <a:off x="548640" y="4572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Список моделей обновляется — актуальный на anthropic.com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Сильные стороны и пределы</a:t>
            </a:r>
            <a:endParaRPr lang="en-US" sz="3600" dirty="0"/>
          </a:p>
        </p:txBody>
      </p:sp>
      <p:sp>
        <p:nvSpPr>
          <p:cNvPr id="3" name="Колонка Что умеет фон"/>
          <p:cNvSpPr/>
          <p:nvPr/>
        </p:nvSpPr>
        <p:spPr>
          <a:xfrm>
            <a:off x="548640" y="1234440"/>
            <a:ext cx="388620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4" name="Иконка Что умеет круг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Иконка Что умеет" descr="Что умее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228600" cy="228600"/>
          </a:xfrm>
          <a:prstGeom prst="rect">
            <a:avLst/>
          </a:prstGeom>
        </p:spPr>
      </p:pic>
      <p:sp>
        <p:nvSpPr>
          <p:cNvPr id="6" name="Заголовок Что умеет"/>
          <p:cNvSpPr txBox="1"/>
          <p:nvPr/>
        </p:nvSpPr>
        <p:spPr>
          <a:xfrm>
            <a:off x="146304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Что умеет</a:t>
            </a:r>
            <a:endParaRPr lang="en-US" sz="2200" dirty="0"/>
          </a:p>
        </p:txBody>
      </p:sp>
      <p:sp>
        <p:nvSpPr>
          <p:cNvPr id="7" name="Список Что умеет"/>
          <p:cNvSpPr txBox="1"/>
          <p:nvPr/>
        </p:nvSpPr>
        <p:spPr>
          <a:xfrm>
            <a:off x="822960" y="2194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Пишет и редактирует тексты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Пишет, объясняет и отлаживает код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Анализирует документы, таблицы и изображения</a:t>
            </a:r>
            <a:endParaRPr lang="en-US" sz="1500" dirty="0"/>
          </a:p>
        </p:txBody>
      </p:sp>
      <p:sp>
        <p:nvSpPr>
          <p:cNvPr id="8" name="Колонка Ограничения фон"/>
          <p:cNvSpPr/>
          <p:nvPr/>
        </p:nvSpPr>
        <p:spPr>
          <a:xfrm>
            <a:off x="4709160" y="1234440"/>
            <a:ext cx="388620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9" name="Иконка Ограничения круг"/>
          <p:cNvSpPr/>
          <p:nvPr/>
        </p:nvSpPr>
        <p:spPr>
          <a:xfrm>
            <a:off x="49834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Иконка Ограничения" descr="Ограничен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228600" cy="228600"/>
          </a:xfrm>
          <a:prstGeom prst="rect">
            <a:avLst/>
          </a:prstGeom>
        </p:spPr>
      </p:pic>
      <p:sp>
        <p:nvSpPr>
          <p:cNvPr id="11" name="Заголовок Ограничения"/>
          <p:cNvSpPr txBox="1"/>
          <p:nvPr/>
        </p:nvSpPr>
        <p:spPr>
          <a:xfrm>
            <a:off x="56235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Ограничения</a:t>
            </a:r>
            <a:endParaRPr lang="en-US" sz="2200" dirty="0"/>
          </a:p>
        </p:txBody>
      </p:sp>
      <p:sp>
        <p:nvSpPr>
          <p:cNvPr id="12" name="Список Ограничения"/>
          <p:cNvSpPr txBox="1"/>
          <p:nvPr/>
        </p:nvSpPr>
        <p:spPr>
          <a:xfrm>
            <a:off x="4983480" y="2194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Может ошибаться, при этом звучать уверенно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Без поиска не знает событий после даты обучения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Ответ зависит от формулировки запроса</a:t>
            </a:r>
            <a:endParaRPr lang="en-US" sz="1500" dirty="0"/>
          </a:p>
        </p:txBody>
      </p:sp>
      <p:sp>
        <p:nvSpPr>
          <p:cNvPr id="13" name="Итог фон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4" name="Итог текст"/>
          <p:cNvSpPr txBox="1"/>
          <p:nvPr/>
        </p:nvSpPr>
        <p:spPr>
          <a:xfrm>
            <a:off x="7772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Вывод: Claude — помощник, а не источник истины. Факты нужно проверять.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2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Project">
  <a:themeElements>
    <a:clrScheme name="Claude Project">
      <a:dk1>
        <a:srgbClr val="1F1E1D"/>
      </a:dk1>
      <a:lt1>
        <a:srgbClr val="FFFFFF"/>
      </a:lt1>
      <a:dk2>
        <a:srgbClr val="3D3A36"/>
      </a:dk2>
      <a:lt2>
        <a:srgbClr val="F2F0EE"/>
      </a:lt2>
      <a:accent1>
        <a:srgbClr val="B4502D"/>
      </a:accent1>
      <a:accent2>
        <a:srgbClr val="D97757"/>
      </a:accent2>
      <a:accent3>
        <a:srgbClr val="6B665F"/>
      </a:accent3>
      <a:accent4>
        <a:srgbClr val="E8B4A0"/>
      </a:accent4>
      <a:accent5>
        <a:srgbClr val="3D3A36"/>
      </a:accent5>
      <a:accent6>
        <a:srgbClr val="8A9A7B"/>
      </a:accent6>
      <a:hlink>
        <a:srgbClr val="B4502D"/>
      </a:hlink>
      <a:folHlink>
        <a:srgbClr val="6B665F"/>
      </a:folHlink>
    </a:clrScheme>
    <a:fontScheme name="Claude Proj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Claude: нейросеть от Anthropic</dc:title>
  <dc:subject>PptxGenJS Presentation</dc:subject>
  <dc:creator/>
  <cp:lastModifiedBy/>
  <cp:revision>1</cp:revision>
  <dcterms:created xsi:type="dcterms:W3CDTF">2026-10-11T13:57:45Z</dcterms:created>
  <dcterms:modified xsi:type="dcterms:W3CDTF">2026-10-11T13:57:45Z</dcterms:modified>
</cp:coreProperties>
</file>